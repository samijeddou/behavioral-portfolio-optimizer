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1" r:id="rId22"/>
    <p:sldId id="270" r:id="rId21"/>
    <p:sldId id="272" r:id="rId23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jp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</a:rPr>
              <a:t>🔗  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Grid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100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100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3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954" y="749808"/>
            <a:ext cx="223321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1" name="Picture 20" descr="slide4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4326"/>
            <a:ext cx="2175497" cy="3148563"/>
          </a:xfrm>
          <a:prstGeom prst="rect">
            <a:avLst/>
          </a:prstGeom>
        </p:spPr>
      </p:pic>
      <p:pic>
        <p:nvPicPr>
          <p:cNvPr id="22" name="Picture 21" descr="slide4step2b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417" y="1004326"/>
            <a:ext cx="1344942" cy="31485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0" name="Picture 19" descr="Slide5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6830" y="749808"/>
            <a:ext cx="1895459" cy="3816418"/>
          </a:xfrm>
          <a:prstGeom prst="rect">
            <a:avLst/>
          </a:prstGeom>
        </p:spPr>
      </p:pic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778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⚡  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434840" y="11887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204825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⚖️  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34840" y="23591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434840" y="32186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🎯  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34840" y="35295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⏱ 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slide6ste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915" y="749808"/>
            <a:ext cx="2015289" cy="2286000"/>
          </a:xfrm>
          <a:prstGeom prst="rect">
            <a:avLst/>
          </a:prstGeom>
        </p:spPr>
      </p:pic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640080" y="3610000"/>
            <a:ext cx="3154240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🚀 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7ste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64" y="749808"/>
            <a:ext cx="7851871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0165"/>
          </a:xfrm>
          <a:prstGeom prst="rect">
            <a:avLst/>
          </a:prstGeom>
        </p:spPr>
      </p:pic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17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slide9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5669" y="749808"/>
            <a:ext cx="2032661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17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Slide10p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49164"/>
            <a:ext cx="5120640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📖  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37760" y="822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📚  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16 / 17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lide11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5" y="1188720"/>
            <a:ext cx="3204989" cy="1645920"/>
          </a:xfrm>
          <a:prstGeom prst="rect">
            <a:avLst/>
          </a:prstGeom>
        </p:spPr>
      </p:pic>
      <p:pic>
        <p:nvPicPr>
          <p:cNvPr id="23" name="Picture 22" descr="Slide11Gloss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1315" y="1188720"/>
            <a:ext cx="3570489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17 / 17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Grid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📚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💡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Grid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17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6650"/>
          </a:xfrm>
          <a:prstGeom prst="rect">
            <a:avLst/>
          </a:prstGeom>
        </p:spPr>
      </p:pic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Curve = the return / tail-risk frontier: the most expected return reachable for each Expected-Shortfall floor L.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A tighter floor (toward −10%) allows less tail loss and lowers return; a looser one (toward −30%) raises it.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★ is the optimum at your chosen floor (here L = −20%, E[r] = 24.6%).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Built from Monte-Carlo scenarios solved by a CVaR linear program, so it scales to many assets.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Backtest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17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lide8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5744"/>
            <a:ext cx="5120640" cy="2526650"/>
          </a:xfrm>
          <a:prstGeom prst="rect">
            <a:avLst/>
          </a:prstGeom>
        </p:spPr>
      </p:pic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Out-of-sample value of two optimiser portfolios, rebased to 100 at entry and marked to market.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Green = Portfolio (1), no derivative; orange = Portfolio (2), with the chosen derivative (a put).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derivative line cushions drawdowns and ends higher — the realised hedging benefit on unseen data.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Realised alpha &amp; beta vs a benchmark are computed from these paths (table beneath the chart in the app).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