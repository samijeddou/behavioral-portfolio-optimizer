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jpg"/><Relationship Id="rId4" Type="http://schemas.openxmlformats.org/officeDocument/2006/relationships/image" Target="../media/image1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jpg"/><Relationship Id="rId4" Type="http://schemas.openxmlformats.org/officeDocument/2006/relationships/image" Target="../media/image1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194560"/>
          </a:xfrm>
          <a:prstGeom prst="rect">
            <a:avLst/>
          </a:prstGeom>
          <a:solidFill>
            <a:srgbClr val="0D1A2E"/>
          </a:solidFill>
          <a:ln w="1905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400" kern="0" dirty="0">
                <a:solidFill>
                  <a:srgbClr val="4A9EFF"/>
                </a:solidFill>
              </a:rPr>
              <a:t>User Guide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Beyond Mean-Variance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Portfolio Optimiser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C8D8"/>
                </a:solidFill>
              </a:rPr>
              <a:t>With Derivatives &amp; Structured Products — A Mental Accounts Framework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86000" y="3749040"/>
            <a:ext cx="4572000" cy="685800"/>
          </a:xfrm>
          <a:prstGeom prst="rect">
            <a:avLst/>
          </a:prstGeom>
          <a:solidFill>
            <a:srgbClr val="1A6BBF">
              <a:alpha val="20000"/>
            </a:srgbClr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286000" y="374904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Sami Jeddou</a:t>
            </a:r>
            <a:pPr algn="ctr" indent="0" marL="0">
              <a:buNone/>
            </a:pPr>
            <a:r>
              <a:rPr lang="en-US" sz="1100" dirty="0">
                <a:solidFill>
                  <a:srgbClr val="C0C8D8"/>
                </a:solidFill>
              </a:rPr>
              <a:t>   |   Senior Financial Services Executive   |   2025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9EFF"/>
                </a:solidFill>
              </a:rPr>
              <a:t>🔗  sami-jeddou-behavioral-portfolio-optimizer.streamlit.app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84064"/>
            <a:ext cx="9144000" cy="59436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Overview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Interactive Frontiers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MV vs Behavioural vs Derivative frontier — visualised side by side on a single chart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Four Portfolios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Markowitz MV / no-derivative / with-derivative / same-risk — four portfolios per run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AI-Powered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On-demand explanations for every parameter, constraint, derivative type, and result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7253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Four Portfolio Perspectives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Portfolio (1) — No derivative: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Equivalent to MV optimum — confirms MVT/MAT equivalence. Most classical optimisers stop here.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Portfolio (2) — With derivative: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Same implied λ and downside constraint (H,α or H,α,L) — shows return uplift from derivatives.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4224528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422452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42245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Portfolio (3) — Same risk as (1):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422452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Interpolated at P(1) std dev — direct comparison of return gain at equivalent risk (indicative).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2 / 12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32" name="Rectangle 31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solidFill>
            <a:srgbClr val="1A6B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50" b="1">
                <a:solidFill>
                  <a:srgbClr val="A855F7"/>
                </a:solidFill>
              </a:rPr>
              <a:t>Portfolio (0) — Markowitz MV: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>
                <a:solidFill>
                  <a:srgbClr val="C0C8D8"/>
                </a:solidFill>
              </a:rPr>
              <a:t>Min-variance portfolio at P(1)’s return — the MVT/MAT-equivalent Markowitz optimum.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1 — Portfolio Data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80467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85953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Default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34840" y="113385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Das &amp; Statman (2009) base case — 3 securities, pre-calibrated. Reproduces thesis results.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51960" y="167335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34840" y="172821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Live market data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20025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Any global ticker from Yahoo Finance — equities, ETFs, indices, crypto (BTC, ETH...)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51960" y="254203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434840" y="259689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Enter manually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34840" y="287121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means, std devs, and correlation matrix directly. Supports 2–10 securities.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51960" y="341071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34840" y="346557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Upload CSV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434840" y="373989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First col = dates, remaining cols = asset prices. Returns computed automatically.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3 / 12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2" name="Picture 21" descr="slide3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954" y="749808"/>
            <a:ext cx="223321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2 — Derivative / Structured Product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51960" y="7498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Available instruments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51960" y="109728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Put option / Call option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51960" y="143560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Safety collar (long put + short call)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51960" y="177393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Aggressive collar (long call + short put)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51960" y="211226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Straddle (long call + long put)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51960" y="2450592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Strangle (long call + long put, diff strikes)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51960" y="278892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Capital-guaranteed note (capped or uncapped)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51960" y="312724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Barrier-M note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251960" y="346557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Custom composer (calls, puts, digitals, ZCBs)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251960" y="3886200"/>
            <a:ext cx="4572000" cy="502920"/>
          </a:xfrm>
          <a:prstGeom prst="rect">
            <a:avLst/>
          </a:prstGeom>
          <a:solidFill>
            <a:srgbClr val="1A3A2E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343400" y="38862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</a:rPr>
              <a:t>💡  Select 'None' to optimise without derivatives — Portfolio (1) only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4 / 12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1" name="Picture 20" descr="slide4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04326"/>
            <a:ext cx="2175497" cy="3148563"/>
          </a:xfrm>
          <a:prstGeom prst="rect">
            <a:avLst/>
          </a:prstGeom>
        </p:spPr>
      </p:pic>
      <p:pic>
        <p:nvPicPr>
          <p:cNvPr id="22" name="Picture 21" descr="slide4step2b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8417" y="1004326"/>
            <a:ext cx="1344942" cy="314856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3 — Mental-Account Constraint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749808"/>
            <a:ext cx="4572000" cy="13716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80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VaR — Value at Risk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434840" y="1097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P(return &lt; H) ≤ α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34840" y="13716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The probability of the portfolio return falling below threshold H must not exceed α.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Set H (loss threshold) and α (max probability) using the sliders.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51960" y="2240280"/>
            <a:ext cx="4572000" cy="13716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229514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ES — Expected Shortfall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434840" y="25877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E[return | return &lt; H] ≥ 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34840" y="286207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Expected loss in the worst tail below H must be at least L.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Two modes: thesis-faithful (default) reproduces the original; Rigorous-ES truly maximises E[r] s.t. ES ≥ L.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51960" y="3730752"/>
            <a:ext cx="4572000" cy="658368"/>
          </a:xfrm>
          <a:prstGeom prst="rect">
            <a:avLst/>
          </a:prstGeom>
          <a:solidFill>
            <a:srgbClr val="1A1A3E"/>
          </a:solidFill>
          <a:ln w="1270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343400" y="3730752"/>
            <a:ext cx="4389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💡  Implied λ is computed dynamically — adjust H and α to see the equivalent risk-aversion coefficient update in real time, confirming MVT/MAT equivalence.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5 / 12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0" name="Picture 19" descr="Slide5step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830" y="749808"/>
            <a:ext cx="1895459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4 — Grid Resolution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1700000"/>
            <a:ext cx="4572000" cy="900000"/>
          </a:xfrm>
          <a:prstGeom prst="rect">
            <a:avLst/>
          </a:prstGeom>
          <a:solidFill>
            <a:srgbClr val="0D1A2E"/>
          </a:solidFill>
          <a:ln w="1524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17640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</a:rPr>
              <a:t>⚡  Fast  (m=21, m'=15)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434840" y="2060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⏱ ~1–2 min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34840" y="2300000"/>
            <a:ext cx="420624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Quick preview and parameter exploration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51960" y="2660000"/>
            <a:ext cx="4572000" cy="900000"/>
          </a:xfrm>
          <a:prstGeom prst="rect">
            <a:avLst/>
          </a:prstGeom>
          <a:solidFill>
            <a:srgbClr val="0D1A2E"/>
          </a:solidFill>
          <a:ln w="1524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27240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9EFF"/>
                </a:solidFill>
              </a:rPr>
              <a:t>⚖️  Standard  (m=35, m'=50)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34840" y="3020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⏱ ~5–15 min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34840" y="3260000"/>
            <a:ext cx="420624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Good balance — close to thesis results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51960" y="3620000"/>
            <a:ext cx="4572000" cy="900000"/>
          </a:xfrm>
          <a:prstGeom prst="rect">
            <a:avLst/>
          </a:prstGeom>
          <a:solidFill>
            <a:srgbClr val="0D1A2E"/>
          </a:solidFill>
          <a:ln w="1524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434840" y="36840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</a:rPr>
              <a:t>🎯  High precision  (m=51, m'=99)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434840" y="39800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⏱ ~15–30 min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434840" y="4220000"/>
            <a:ext cx="420624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Publication-quality replication of thesis results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6 / 12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4" name="Picture 23" descr="slide6ste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6915" y="749808"/>
            <a:ext cx="2015289" cy="228600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251960" y="740000"/>
            <a:ext cx="4572000" cy="900000"/>
          </a:xfrm>
          <a:prstGeom prst="rect">
            <a:avLst/>
          </a:prstGeom>
          <a:solidFill>
            <a:srgbClr val="0D1A2E"/>
          </a:solidFill>
          <a:ln w="1524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804000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50" b="1" i="0">
                <a:solidFill>
                  <a:srgbClr val="22D3EE"/>
                </a:solidFill>
              </a:rPr>
              <a:t>🚀  Turbo  (m=51, coarse-to-fine)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1100000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50" b="0" i="1">
                <a:solidFill>
                  <a:srgbClr val="556A8A"/>
                </a:solidFill>
              </a:rPr>
              <a:t>⏱ ~1–2 s · default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1340000"/>
            <a:ext cx="4206240" cy="2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C0C8D8"/>
                </a:solidFill>
              </a:rPr>
              <a:t>Thesis-level VaR accuracy, ~60× faster (no-derivative, n ≤ 4)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5 — Run the Optimiser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65760" y="2907792"/>
            <a:ext cx="8412480" cy="1481328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Computation steps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7355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>1.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Mean-variance frontier — Markowitz sweep (instant)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354787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>2.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Behavioural frontier (no derivative) — State space, Gaussian copula, grid search, COBYLA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382219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>3.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Derivative frontier — Same steps extended with derivative payoff (only if derivative selected)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409651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>4.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Chart rendering + Results computation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7 / 12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6" name="Picture 15" descr="Slide7step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64" y="749808"/>
            <a:ext cx="7851871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Chart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669280" y="7498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Chart legend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0" y="1115568"/>
            <a:ext cx="164592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97880" y="11155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Purple dashed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897880" y="129844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Mean-variance efficient frontier (Markowitz)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69280" y="1463040"/>
            <a:ext cx="164592" cy="201168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897880" y="14630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Blue dots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897880" y="16459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Behavioural efficient frontier — no derivative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69280" y="1810512"/>
            <a:ext cx="164592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897880" y="181051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Gold squares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97880" y="199339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Behavioural optimum — derivative frontier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669280" y="2505456"/>
            <a:ext cx="164592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897880" y="25054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Green diamond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897880" y="26883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(1) — no derivative optimum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69280" y="2852928"/>
            <a:ext cx="164592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897880" y="285292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Orange square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97880" y="303580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(2) — with derivative, same λ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669280" y="3200400"/>
            <a:ext cx="164592" cy="201168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897880" y="32004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Coral star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897880" y="338328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(3) — same variance as P(1)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4078224"/>
            <a:ext cx="8412480" cy="65836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02920" y="40782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X-axis: Portfolio Risk (Standard Deviation %)   |   Y-axis: Expected Return (%)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8 / 12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30" name="Rectangle 29"/>
          <p:cNvSpPr/>
          <p:nvPr/>
        </p:nvSpPr>
        <p:spPr>
          <a:xfrm>
            <a:off x="5669280" y="2157984"/>
            <a:ext cx="164592" cy="201168"/>
          </a:xfrm>
          <a:prstGeom prst="rect">
            <a:avLst/>
          </a:prstGeom>
          <a:solidFill>
            <a:srgbClr val="A855F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97880" y="2157984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>
                <a:solidFill>
                  <a:srgbClr val="FFFFFF"/>
                </a:solidFill>
              </a:rPr>
              <a:t>Purple dot (white frame)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97880" y="2340864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850" b="0">
                <a:solidFill>
                  <a:srgbClr val="556A8A"/>
                </a:solidFill>
              </a:rPr>
              <a:t>Portfolio (0) — Markowitz MV optimum</a:t>
            </a:r>
          </a:p>
        </p:txBody>
      </p:sp>
      <p:pic>
        <p:nvPicPr>
          <p:cNvPr id="33" name="Picture 32" descr="Slide8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095744"/>
            <a:ext cx="4986953" cy="25085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Portfolio Results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315468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Key metrics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34930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Expected return: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Annualised mean return of the optimal portfolio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Std deviation: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Annualised portfolio volatility (risk measure)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4114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Skewness: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Asymmetry of return distribution — positive = upside skew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63440" y="34930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Shortfall / ES: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Expected loss in the tail (ES constraint value)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63440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Portfolio weights: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Allocation to each security and derivative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9 / 12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4" name="Picture 13" descr="slide9res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749808"/>
            <a:ext cx="2066544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PDF Export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669280" y="7498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PDF report includes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0" y="111556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Cover page with run parameters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9961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Full efficient frontier chart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0" y="188366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Portfolio (0), (1), (2), (3) metrics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226771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Weight allocation bar charts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0" y="265176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Legal disclaimer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4078224"/>
            <a:ext cx="8412480" cy="65836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02920" y="40782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💡  The PDF is generated in-browser — no data is sent externally. Click 'Download PDF report' after the simulation completes.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10 / 12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6" name="Picture 15" descr="Slide10p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949164"/>
            <a:ext cx="5120640" cy="80168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About &amp; Glossary Tabs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4023360" cy="34747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822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EFF"/>
                </a:solidFill>
              </a:rPr>
              <a:t>📖  About Tab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Author background &amp; contact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3182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App description &amp; algorithm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Academic references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378561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Legal disclaimer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0" y="749808"/>
            <a:ext cx="4023360" cy="34747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937760" y="822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EFF"/>
                </a:solidFill>
              </a:rPr>
              <a:t>📚  Glossary Tab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880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Click any term for AI explanation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937760" y="3182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Covers derivatives, risk, portfolio theory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4838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Ask your own questions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937760" y="378561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Tailored to behavioural portfolio context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11 / 12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2" name="Picture 21" descr="slide11ab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45" y="1188720"/>
            <a:ext cx="3204989" cy="1645920"/>
          </a:xfrm>
          <a:prstGeom prst="rect">
            <a:avLst/>
          </a:prstGeom>
        </p:spPr>
      </p:pic>
      <p:pic>
        <p:nvPicPr>
          <p:cNvPr id="23" name="Picture 22" descr="Slide11Gloss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1315" y="1188720"/>
            <a:ext cx="3570489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Disclaimer &amp; Contact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1920240"/>
          </a:xfrm>
          <a:prstGeom prst="rect">
            <a:avLst/>
          </a:prstGeom>
          <a:solidFill>
            <a:srgbClr val="1A1200"/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84124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⚠️  Legal Disclaimer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This application is based on the mental accounts portfolio optimisation framework of Das &amp; Statman (2009) and Das, Markowitz, Scheid &amp; Statman (2010), as extended in Jeddou (2012). It is provided for educational and research purposes only and does not constitute financial advice, investment recommendations, or a solicitation to buy or sell any financial instrument. Results are purely illustrative and should not be used as the basis for any investment decision.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2834640"/>
            <a:ext cx="8412480" cy="123444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28895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Academic References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Das, S. &amp; Statman, M. (2009) — Beyond Mean-Variance: Portfolios with Derivatives and Non-Normal Returns in Mental Accounts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" y="34747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Das, S., Markowitz, H., Scheid, J. &amp; Statman, M. (2010) — Portfolio Optimization with Mental Accounts, JFQA Vol.45 No.2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48640" y="374904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Jeddou, S. (2012) — Beyond Mean-Variance: Options and Structured Products in Behavioral Portfolios, MSc Finance, USI Lugano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65760" y="452628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>🔗  </a:t>
            </a:r>
            <a:pPr algn="ctr"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>sami-jeddou-behavioral-portfolio-optimizer.streamlit.app</a:t>
            </a:r>
            <a:pPr algn="ctr" indent="0" marL="0">
              <a:buNone/>
            </a:pPr>
            <a:r>
              <a:rPr lang="en-US" sz="950" dirty="0">
                <a:solidFill>
                  <a:srgbClr val="556A8A"/>
                </a:solidFill>
              </a:rPr>
              <a:t>   |   📧  sami.jeddou@protonmail.com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12 / 12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Mean-Variance Portfolio Optimiser — User Guide</dc:title>
  <dc:subject>PptxGenJS Presentation</dc:subject>
  <dc:creator>Sami Jeddou</dc:creator>
  <cp:lastModifiedBy>Sami Jeddou</cp:lastModifiedBy>
  <cp:revision>1</cp:revision>
  <dcterms:created xsi:type="dcterms:W3CDTF">2026-06-04T12:14:13Z</dcterms:created>
  <dcterms:modified xsi:type="dcterms:W3CDTF">2026-06-04T12:14:13Z</dcterms:modified>
</cp:coreProperties>
</file>