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3" r:id="rId24"/>
    <p:sldId id="268" r:id="rId1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20"/>
    <p:sldId id="271" r:id="rId22"/>
    <p:sldId id="274" r:id="rId25"/>
    <p:sldId id="270" r:id="rId21"/>
    <p:sldId id="272" r:id="rId23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8.xml"/><Relationship Id="rId13" Type="http://schemas.openxmlformats.org/officeDocument/2006/relationships/slide" Target="slides/slide19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3.xml"/><Relationship Id="rId20" Type="http://schemas.openxmlformats.org/officeDocument/2006/relationships/slide" Target="slides/slide13.xml"/><Relationship Id="rId21" Type="http://schemas.openxmlformats.org/officeDocument/2006/relationships/slide" Target="slides/slide16.xml"/><Relationship Id="rId22" Type="http://schemas.openxmlformats.org/officeDocument/2006/relationships/slide" Target="slides/slide14.xml"/><Relationship Id="rId23" Type="http://schemas.openxmlformats.org/officeDocument/2006/relationships/slide" Target="slides/slide17.xml"/><Relationship Id="rId24" Type="http://schemas.openxmlformats.org/officeDocument/2006/relationships/slide" Target="slides/slide2.xml"/><Relationship Id="rId25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sami-jeddou-behavioral-portfolio-optimizer.streamlit.app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7.png"/><Relationship Id="rId6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Relationship Id="rId4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Relationship Id="rId4" Type="http://schemas.openxmlformats.org/officeDocument/2006/relationships/image" Target="../media/image2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image" Target="../media/image4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jpg"/><Relationship Id="rId4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jpg"/><Relationship Id="rId4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3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4.png"/><Relationship Id="rId3" Type="http://schemas.openxmlformats.org/officeDocument/2006/relationships/image" Target="../media/image1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Relationship Id="rId4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png"/><Relationship Id="rId3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image" Target="../media/image50.png"/><Relationship Id="rId8" Type="http://schemas.openxmlformats.org/officeDocument/2006/relationships/image" Target="../media/image5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linkedin.com/in/sami-jeddou-25787a404" TargetMode="External"/><Relationship Id="rId4" Type="http://schemas.openxmlformats.org/officeDocument/2006/relationships/hyperlink" Target="https://sami-jeddou-behavioral-portfolio-optimizer.streamlit.ap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solidFill>
            <a:srgbClr val="0D1A2E"/>
          </a:solidFill>
          <a:ln w="1905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400" kern="0" dirty="0">
                <a:solidFill>
                  <a:srgbClr val="4A9EFF"/>
                </a:solidFill>
              </a:rPr>
              <a:t>User Guide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Beyond Mean-Variance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Portfolio Optimiser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0C8D8"/>
                </a:solidFill>
              </a:rPr>
              <a:t>With Derivatives &amp; Structured Products — A Mental Accounts Framework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solidFill>
            <a:srgbClr val="1A6BBF">
              <a:alpha val="20000"/>
            </a:srgbClr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286000" y="374904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Sami Jeddou</a:t>
            </a:r>
            <a:pPr algn="ctr" indent="0" marL="0">
              <a:buNone/>
            </a:pPr>
            <a:r>
              <a:rPr lang="en-US" sz="1100" dirty="0">
                <a:solidFill>
                  <a:srgbClr val="C0C8D8"/>
                </a:solidFill>
              </a:rPr>
              <a:t xml:space="preserve">   |   Senior Financial Services Executive   |   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9EFF"/>
                </a:solidFill>
                <a:hlinkClick r:id="rId3"/>
              </a:rPr>
              <a:t>sami-jeddou-behavioral-portfolio-optimizer.streamlit.app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0" y="5084064"/>
            <a:ext cx="9144000" cy="59436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2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2" name="TextBox 31"/>
          <p:cNvSpPr txBox="1"/>
          <p:nvPr/>
        </p:nvSpPr>
        <p:spPr>
          <a:xfrm>
            <a:off x="457200" y="7315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C0C8D8"/>
                </a:solidFill>
              </a:rPr>
              <a:t>The landing screen — your starting point: the three tools across the top, with the reference shelf (About · Glossary · User Guide) below.</a:t>
            </a:r>
          </a:p>
        </p:txBody>
      </p:sp>
      <p:pic>
        <p:nvPicPr>
          <p:cNvPr id="33" name="Picture 32" descr="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1457185"/>
            <a:ext cx="6355080" cy="29377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Home — choose a tool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Grid Portfolio Optimiser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Exact grid engine on the Das–Statman states — VaR, thesis-ES and rigorous-ES, with derivatives.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Scalable Portfolio Optimiser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Monte-Carlo scenarios + α-CVaR linear program — scales to large, multi-derivative portfolios.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Backtest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Out-of-sample walk-forward — expected vs realised, plus realised alpha &amp; beta.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Reference &amp; navigation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About: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Methods, the mental-accounting framework and the research behind the app.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Glossary: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Plain-language, AI-powered definitions — VaR, ES, α-CVaR, copulas, alpha &amp; beta.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Tip: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Each tile opens a tool; the Grid Portfolio Optimiser is the place to start.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3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layers_f5b942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activity_26a641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  <p:pic>
        <p:nvPicPr>
          <p:cNvPr id="35" name="Picture 34" descr="info_ffffff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" y="3209544"/>
            <a:ext cx="292608" cy="292608"/>
          </a:xfrm>
          <a:prstGeom prst="rect">
            <a:avLst/>
          </a:prstGeom>
        </p:spPr>
      </p:pic>
      <p:pic>
        <p:nvPicPr>
          <p:cNvPr id="36" name="Picture 35" descr="book_ffffff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796" y="3547872"/>
            <a:ext cx="292608" cy="292608"/>
          </a:xfrm>
          <a:prstGeom prst="rect">
            <a:avLst/>
          </a:prstGeom>
        </p:spPr>
      </p:pic>
      <p:pic>
        <p:nvPicPr>
          <p:cNvPr id="37" name="Picture 36" descr="bulb_ffff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796" y="38862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Grid Portfolio Optimiser — overview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Interactive Frontiers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MV vs Behavioural vs Derivative frontier — visualised side by side on a single chart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Three Portfolios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No derivative / With derivative / Same risk — three perspectives for each optimisation run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AI-Powered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On-demand explanations for every parameter, constraint, derivative type, and result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8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Portfolio perspectives (0–3)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5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5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5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Portfolio (1) — No derivative: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5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Equivalent to MV optimum — confirms MVT/MAT equivalence. Most classical optimisers stop here.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8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8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8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Portfolio (2) — With derivative: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8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Same implied λ and downside constraint (H,α or H,α,L) — shows return uplift from derivatives.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41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1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41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Portfolio (3) — Same risk as (1):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41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Interpolated at P(1) std dev — direct comparison of return gain at equivalent risk (indicative).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4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50" name="P0 badge"/>
          <p:cNvSpPr/>
          <p:nvPr/>
        </p:nvSpPr>
        <p:spPr>
          <a:xfrm>
            <a:off x="548640" y="3264864"/>
            <a:ext cx="502920" cy="182880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1" name="P0 num"/>
          <p:cNvSpPr/>
          <p:nvPr/>
        </p:nvSpPr>
        <p:spPr>
          <a:xfrm>
            <a:off x="548640" y="3264864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0</a:t>
            </a:r>
            <a:endParaRPr lang="en-US" sz="1100" dirty="0"/>
          </a:p>
        </p:txBody>
      </p:sp>
      <p:sp>
        <p:nvSpPr>
          <p:cNvPr id="52" name="P0 label"/>
          <p:cNvSpPr/>
          <p:nvPr/>
        </p:nvSpPr>
        <p:spPr>
          <a:xfrm>
            <a:off x="1143000" y="3210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855F7"/>
                </a:solidFill>
              </a:rPr>
              <a:t>Portfolio (0) — Markowitz MV optimum:</a:t>
            </a:r>
            <a:endParaRPr lang="en-US" sz="950" dirty="0"/>
          </a:p>
        </p:txBody>
      </p:sp>
      <p:sp>
        <p:nvSpPr>
          <p:cNvPr id="53" name="P0 desc"/>
          <p:cNvSpPr/>
          <p:nvPr/>
        </p:nvSpPr>
        <p:spPr>
          <a:xfrm>
            <a:off x="3383280" y="3210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Classical mean-variance solution; Portfolio (1) coincides with it.</a:t>
            </a:r>
            <a:endParaRPr lang="en-US" sz="900" dirty="0"/>
          </a:p>
        </p:txBody>
      </p:sp>
      <p:pic>
        <p:nvPicPr>
          <p:cNvPr id="54" name="Picture 53" descr="trending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55" name="Picture 54" descr="layers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56" name="Picture 55" descr="sparkle_4a9eff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1 — Portfolio Data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85953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Default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434840" y="113385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Das &amp; Statman (2009) base case — 3 securities, pre-calibrated. Reproduces thesis results.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51960" y="167335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434840" y="17282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Live market data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34840" y="200253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Any global ticker from Yahoo Finance — equities, ETFs, indices, crypto (BTC, ETH...)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51960" y="254203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Enter manually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287121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means, std devs, and correlation matrix directly. Supports 2–10 securities.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51960" y="3410712"/>
            <a:ext cx="4572000" cy="74980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34840" y="346557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Upload CSV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34840" y="3739896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First col = dates, remaining cols = asset prices. Returns computed automatically.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5 / 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2" name="Picture 21" descr="step1_da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7954" y="1243743"/>
            <a:ext cx="2233211" cy="266973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34840" y="42062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F59E0B"/>
                </a:solidFill>
              </a:rPr>
              <a:t>Important: with Live market data or CSV, click ‘Fetch data’ to load it before running the optimiser — it will not run on un-fetched tickers.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2 — Derivative / Structured Product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251960" y="74980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Available instruments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51960" y="10972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Vanilla options — put, call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251960" y="143560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Collars — safety, aggressive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51960" y="177393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Volatility — straddle, strangle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51960" y="211226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Spreads — bull call, bear put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51960" y="2450592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Butterfly &amp; condor — long butterfly, call condor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51960" y="278892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Capital-guaranteed note — capped or uncapped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51960" y="312724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Barrier-M note &amp; reverse convertible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251960" y="34655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9EFF"/>
                </a:solidFill>
              </a:rPr>
              <a:t xml:space="preserve">▸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Discount &amp; outperformance certificates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251960" y="3886200"/>
            <a:ext cx="4572000" cy="502920"/>
          </a:xfrm>
          <a:prstGeom prst="rect">
            <a:avLst/>
          </a:prstGeom>
          <a:solidFill>
            <a:srgbClr val="1A3A2E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343400" y="38862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</a:rPr>
              <a:t>💡  Select 'None' for no derivatives, or 'Custom' to build your own (calls, puts, digitals, ZCBs).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6 / 19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3" name="Picture 22" descr="step2_derivative_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882" y="1004326"/>
            <a:ext cx="2113252" cy="3148563"/>
          </a:xfrm>
          <a:prstGeom prst="rect">
            <a:avLst/>
          </a:prstGeom>
        </p:spPr>
      </p:pic>
      <p:pic>
        <p:nvPicPr>
          <p:cNvPr id="24" name="Picture 23" descr="step2_derivative_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06612" y="1004326"/>
            <a:ext cx="1088552" cy="314856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3 — Mental-Account Constraint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74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434840" y="79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VaR — Value at Risk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434840" y="106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P(return &lt; H) ≤ 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434840" y="131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Caps the probability of finishing below H at α.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72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434840" y="177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Expected Shortfall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434840" y="204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E[return | return &lt; H] ≥ 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34840" y="229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Floors the average tail loss below H at L (thesis).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689808"/>
            <a:ext cx="4572000" cy="658368"/>
          </a:xfrm>
          <a:prstGeom prst="rect">
            <a:avLst/>
          </a:prstGeom>
          <a:solidFill>
            <a:srgbClr val="1A1A3E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343400" y="368980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💡  Implied λ is computed dynamically — adjust H and α to see the equivalent risk-aversion coefficient update in real time, confirming MVT/MAT equivalence.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7 / 19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60" name="Rig box"/>
          <p:cNvSpPr/>
          <p:nvPr/>
        </p:nvSpPr>
        <p:spPr>
          <a:xfrm>
            <a:off x="4251960" y="2709808"/>
            <a:ext cx="4572000" cy="92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61" name="Rig hdr"/>
          <p:cNvSpPr/>
          <p:nvPr/>
        </p:nvSpPr>
        <p:spPr>
          <a:xfrm>
            <a:off x="4434840" y="2754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ES — Rigorous (beyond thesis)</a:t>
            </a:r>
            <a:endParaRPr lang="en-US" sz="1100" dirty="0"/>
          </a:p>
        </p:txBody>
      </p:sp>
      <p:sp>
        <p:nvSpPr>
          <p:cNvPr id="62" name="Rig formula"/>
          <p:cNvSpPr/>
          <p:nvPr/>
        </p:nvSpPr>
        <p:spPr>
          <a:xfrm>
            <a:off x="4434840" y="30212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9E0B"/>
                </a:solidFill>
              </a:rPr>
              <a:t>E[r | r &lt; H] ≥ L  (enforced in the solve)</a:t>
            </a:r>
            <a:endParaRPr lang="en-US" sz="1100" dirty="0"/>
          </a:p>
        </p:txBody>
      </p:sp>
      <p:sp>
        <p:nvSpPr>
          <p:cNvPr id="63" name="Rig desc"/>
          <p:cNvSpPr/>
          <p:nvPr/>
        </p:nvSpPr>
        <p:spPr>
          <a:xfrm>
            <a:off x="4434840" y="32798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Enforces the ES floor in the optimisation itself.</a:t>
            </a:r>
            <a:endParaRPr lang="en-US" sz="900" dirty="0"/>
          </a:p>
        </p:txBody>
      </p:sp>
      <p:pic>
        <p:nvPicPr>
          <p:cNvPr id="64" name="Picture 63" descr="(step3_constra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0806" y="749808"/>
            <a:ext cx="1627506" cy="38164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4 — Grid Resolution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251960" y="804672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90872" y="877824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9E0B"/>
                </a:solidFill>
              </a:rPr>
              <a:t>Fast  (m=21, m'=15)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90872" y="1188720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~1–2 min (or more depending on the portfolio size)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34840" y="14264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Quick preview and parameter exploration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975104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690872" y="2048256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A9EFF"/>
                </a:solidFill>
              </a:rPr>
              <a:t>Standard  (m=35, m'=50)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690872" y="2359152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~5–15 min (or more depending on the portfolio size)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434840" y="25968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Good balance — close to thesis results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251960" y="3145536"/>
            <a:ext cx="4572000" cy="1051560"/>
          </a:xfrm>
          <a:prstGeom prst="rect">
            <a:avLst/>
          </a:prstGeom>
          <a:solidFill>
            <a:srgbClr val="0D1A2E"/>
          </a:solidFill>
          <a:ln w="1524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690872" y="3218688"/>
            <a:ext cx="3950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B981"/>
                </a:solidFill>
              </a:rPr>
              <a:t>High precision  (m=51, m'=99)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90872" y="3529584"/>
            <a:ext cx="39502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A8A"/>
                </a:solidFill>
              </a:rPr>
              <a:t>1–2 hrs (or more depending on the portfolio size)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76732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Publication-quality replication of thesis results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8 / 19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Also box"/>
          <p:cNvSpPr/>
          <p:nvPr/>
        </p:nvSpPr>
        <p:spPr>
          <a:xfrm>
            <a:off x="457200" y="3210000"/>
            <a:ext cx="3520000" cy="12400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41" name="Also hdr"/>
          <p:cNvSpPr/>
          <p:nvPr/>
        </p:nvSpPr>
        <p:spPr>
          <a:xfrm>
            <a:off x="640080" y="3290000"/>
            <a:ext cx="315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Also available</a:t>
            </a:r>
            <a:endParaRPr lang="en-US" sz="1100" dirty="0"/>
          </a:p>
        </p:txBody>
      </p:sp>
      <p:sp>
        <p:nvSpPr>
          <p:cNvPr id="42" name="Also turbo"/>
          <p:cNvSpPr/>
          <p:nvPr/>
        </p:nvSpPr>
        <p:spPr>
          <a:xfrm>
            <a:off x="896112" y="3610000"/>
            <a:ext cx="2898208" cy="4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B342"/>
                </a:solidFill>
              </a:rPr>
              <a:t xml:space="preserve">Turbo — 4th resolution: </a:t>
            </a:r>
            <a:r>
              <a:rPr lang="en-US" sz="950" dirty="0">
                <a:solidFill>
                  <a:srgbClr val="C0C8D8"/>
                </a:solidFill>
              </a:rPr>
              <a:t>High-precision VaR accuracy in ~seconds (VaR-only, ≤4 assets, no derivative).</a:t>
            </a:r>
            <a:endParaRPr lang="en-US" sz="950" dirty="0"/>
          </a:p>
        </p:txBody>
      </p:sp>
      <p:sp>
        <p:nvSpPr>
          <p:cNvPr id="43" name="Also rig"/>
          <p:cNvSpPr/>
          <p:nvPr/>
        </p:nvSpPr>
        <p:spPr>
          <a:xfrm>
            <a:off x="640080" y="4110000"/>
            <a:ext cx="3154240" cy="3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</a:rPr>
              <a:t xml:space="preserve">Rigorous ES: </a:t>
            </a:r>
            <a:r>
              <a:rPr lang="en-US" sz="950" dirty="0">
                <a:solidFill>
                  <a:srgbClr val="C0C8D8"/>
                </a:solidFill>
              </a:rPr>
              <a:t>a fixed high-precision grid (m=51); chosen in the Risk-measure step.</a:t>
            </a:r>
            <a:endParaRPr lang="en-US" sz="950" dirty="0"/>
          </a:p>
        </p:txBody>
      </p:sp>
      <p:pic>
        <p:nvPicPr>
          <p:cNvPr id="44" name="Picture 43" descr="step4_re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794" y="749808"/>
            <a:ext cx="1987531" cy="2286000"/>
          </a:xfrm>
          <a:prstGeom prst="rect">
            <a:avLst/>
          </a:prstGeom>
        </p:spPr>
      </p:pic>
      <p:pic>
        <p:nvPicPr>
          <p:cNvPr id="45" name="Picture 44" descr="zap_f5b942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905256"/>
            <a:ext cx="182880" cy="182880"/>
          </a:xfrm>
          <a:prstGeom prst="rect">
            <a:avLst/>
          </a:prstGeom>
        </p:spPr>
      </p:pic>
      <p:pic>
        <p:nvPicPr>
          <p:cNvPr id="46" name="Picture 45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1216152"/>
            <a:ext cx="182880" cy="182880"/>
          </a:xfrm>
          <a:prstGeom prst="rect">
            <a:avLst/>
          </a:prstGeom>
        </p:spPr>
      </p:pic>
      <p:pic>
        <p:nvPicPr>
          <p:cNvPr id="47" name="Picture 46" descr="sliders_4a9e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0" y="2075688"/>
            <a:ext cx="182880" cy="182880"/>
          </a:xfrm>
          <a:prstGeom prst="rect">
            <a:avLst/>
          </a:prstGeom>
        </p:spPr>
      </p:pic>
      <p:pic>
        <p:nvPicPr>
          <p:cNvPr id="48" name="Picture 47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2386584"/>
            <a:ext cx="182880" cy="182880"/>
          </a:xfrm>
          <a:prstGeom prst="rect">
            <a:avLst/>
          </a:prstGeom>
        </p:spPr>
      </p:pic>
      <p:pic>
        <p:nvPicPr>
          <p:cNvPr id="49" name="Picture 48" descr="target_26a641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34840" y="3246120"/>
            <a:ext cx="182880" cy="182880"/>
          </a:xfrm>
          <a:prstGeom prst="rect">
            <a:avLst/>
          </a:prstGeom>
        </p:spPr>
      </p:pic>
      <p:pic>
        <p:nvPicPr>
          <p:cNvPr id="50" name="Picture 49" descr="clock_8a97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4840" y="3557016"/>
            <a:ext cx="182880" cy="182880"/>
          </a:xfrm>
          <a:prstGeom prst="rect">
            <a:avLst/>
          </a:prstGeom>
        </p:spPr>
      </p:pic>
      <p:pic>
        <p:nvPicPr>
          <p:cNvPr id="51" name="Picture 50" descr="ffwd_4a9eff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" y="363743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365760" y="16459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1645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6459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Step 5 — Run the Optimiser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65760" y="2907792"/>
            <a:ext cx="8412480" cy="1481328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Computation steps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327355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1.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Mean-variance frontier — Markowitz sweep (instant)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354787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2.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Behavioural frontier (no derivative) — State space, Gaussian copula, grid search, COBYLA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382219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3.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Derivative frontier — Same steps extended with derivative payoff (only if derivative selected)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48640" y="409651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9EFF"/>
                </a:solidFill>
              </a:rPr>
              <a:t xml:space="preserve">4.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Chart rendering + Results computation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9 / 19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1417320"/>
            <a:ext cx="2615184" cy="6339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Chart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Chart legend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0" y="1115568"/>
            <a:ext cx="164592" cy="2011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97880" y="111556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Purple dashed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897880" y="12984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Mean-variance efficient frontier (Markowitz)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69280" y="1463040"/>
            <a:ext cx="164592" cy="201168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97880" y="14630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Blue dots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897880" y="16459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efficient frontier — no derivative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69280" y="1810512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897880" y="181051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Gold squares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97880" y="199339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Behavioural optimum — derivative frontier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669280" y="2157984"/>
            <a:ext cx="164592" cy="2011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15798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Green diamond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97880" y="23408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(1) — no derivative optimum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669280" y="2505456"/>
            <a:ext cx="164592" cy="20116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97880" y="2505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Orange square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897880" y="26883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(2) — with derivative, same λ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669280" y="2852928"/>
            <a:ext cx="164592" cy="201168"/>
          </a:xfrm>
          <a:prstGeom prst="rect">
            <a:avLst/>
          </a:prstGeom>
          <a:solidFill>
            <a:srgbClr val="E76F51"/>
          </a:solidFill>
          <a:ln w="12700">
            <a:solidFill>
              <a:srgbClr val="E76F5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897880" y="28529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Coral star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89788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(3) — same variance as P(1)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X-axis: Portfolio Risk (Standard Deviation %)   |   Y-axis: Expected Return (%)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10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30" name="Swatch P0"/>
          <p:cNvSpPr/>
          <p:nvPr/>
        </p:nvSpPr>
        <p:spPr>
          <a:xfrm>
            <a:off x="5669280" y="3200400"/>
            <a:ext cx="164592" cy="201168"/>
          </a:xfrm>
          <a:prstGeom prst="rect">
            <a:avLst/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  <p:txBody>
          <a:bodyPr/>
          <a:p/>
        </p:txBody>
      </p:sp>
      <p:sp>
        <p:nvSpPr>
          <p:cNvPr id="31" name="Text P0"/>
          <p:cNvSpPr/>
          <p:nvPr/>
        </p:nvSpPr>
        <p:spPr>
          <a:xfrm>
            <a:off x="5897880" y="32004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Magenta circle</a:t>
            </a:r>
            <a:endParaRPr lang="en-US" sz="900" dirty="0"/>
          </a:p>
        </p:txBody>
      </p:sp>
      <p:sp>
        <p:nvSpPr>
          <p:cNvPr id="32" name="Desc P0"/>
          <p:cNvSpPr/>
          <p:nvPr/>
        </p:nvSpPr>
        <p:spPr>
          <a:xfrm>
            <a:off x="5897880" y="338328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6A8A"/>
                </a:solidFill>
              </a:rPr>
              <a:t>Portfolio (0) — Markowitz MV optimum</a:t>
            </a:r>
            <a:endParaRPr lang="en-US" sz="850" dirty="0"/>
          </a:p>
        </p:txBody>
      </p:sp>
      <p:pic>
        <p:nvPicPr>
          <p:cNvPr id="33" name="Picture 32" descr="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376493"/>
            <a:ext cx="5120640" cy="195866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Portfolio Results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65760" y="3154680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Key metrics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Expected return: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mean return of the optimal portfolio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Std deviation: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Annualised portfolio volatility (risk measure)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41148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Skewness: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Asymmetry of return distribution — positive = upside skew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663440" y="349300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Shortfall / ES: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Expected loss in the tail (ES constraint value)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663440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 xml:space="preserve">Portfolio weights:  </a:t>
            </a:r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Allocation to each security and derivative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11 / 19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4" name="Picture 13" descr="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914400"/>
            <a:ext cx="7863840" cy="14475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PDF Export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669280" y="74980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PDF report includes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0" y="11155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Cover page with run parameters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0" y="149961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Full efficient frontier chart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0" y="18836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Portfolio (1), (2), (3) metrics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0" y="226771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Weight allocation bar charts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0" y="26517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 xml:space="preserve">✓  </a:t>
            </a:r>
            <a:pPr indent="0" marL="0">
              <a:buNone/>
            </a:pPr>
            <a:r>
              <a:rPr lang="en-US" sz="1000" dirty="0">
                <a:solidFill>
                  <a:srgbClr val="C0C8D8"/>
                </a:solidFill>
              </a:rPr>
              <a:t>Legal disclaimer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4078224"/>
            <a:ext cx="8412480" cy="658368"/>
          </a:xfrm>
          <a:prstGeom prst="rect">
            <a:avLst/>
          </a:prstGeom>
          <a:solidFill>
            <a:srgbClr val="0D1A2E"/>
          </a:solidFill>
          <a:ln w="1016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02920" y="40782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💡  The PDF is generated in-browser — no data is sent externally. Click 'Download PDF report' after the simulation completes.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12 / 19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16" name="Picture 15" descr="pdf_ex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855" y="1949164"/>
            <a:ext cx="4754449" cy="80168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Scalable Portfolio Optimiser — Monte-Carlo + CVaR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Scenario engine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Samples thousands of joint return scenarios through a Gaussian or Student-t copula.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α-CVaR linear program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Maximises return subject to a CVaR (Expected-Shortfall) floor — Rockafellar–Uryasev.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Institutional scale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Cost grows linearly in the number of assets — dozens of holdings, several derivatives at once.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How to use it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Pick assets &amp; scenarios: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tickers and derivatives, choose the copula and the number of Monte-Carlo scenarios.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Set the ES floor: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Choose the loss level L; the engine sweeps the return / tail-risk frontier.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Read the optimum: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★ marks the chosen portfolio; weights, E[r], realised ES, vol and skew are reported.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13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grid3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ruler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trending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14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Curve = the return / tail-risk frontier: the most expected return reachable for each Expected-Shortfall floor L.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A tighter floor (toward −10%) allows less tail loss and lowers return; a looser one (toward −30%) raises it.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★ is the optimum at your chosen floor (here L = −20%, E[r] = 24.6%).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Built from Monte-Carlo scenarios solved by a CVaR linear program, so it scales to many assets.</a:t>
            </a:r>
          </a:p>
        </p:txBody>
      </p:sp>
      <p:pic>
        <p:nvPicPr>
          <p:cNvPr id="42" name="Picture 41" descr="scalable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7377"/>
            <a:ext cx="5120640" cy="196338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Scalable output — detail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15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9" name="Picture 28" descr="scalable_outpu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412" y="960120"/>
            <a:ext cx="3765176" cy="1143000"/>
          </a:xfrm>
          <a:prstGeom prst="rect">
            <a:avLst/>
          </a:prstGeom>
        </p:spPr>
      </p:pic>
      <p:pic>
        <p:nvPicPr>
          <p:cNvPr id="30" name="Picture 29" descr="scalable_output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194" y="2194560"/>
            <a:ext cx="4527611" cy="1143000"/>
          </a:xfrm>
          <a:prstGeom prst="rect">
            <a:avLst/>
          </a:prstGeom>
        </p:spPr>
      </p:pic>
      <p:pic>
        <p:nvPicPr>
          <p:cNvPr id="31" name="Picture 30" descr="scalable_output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09" y="3429000"/>
            <a:ext cx="4498982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Out-of-sample back-test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Two windows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7548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Build weights on a construction window, then buy-and-hold them through a later evaluation window.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0040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Marked to market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012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The derivative is repriced each step with Black-Scholes, giving a full realised return path.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35040" y="868680"/>
            <a:ext cx="2651760" cy="182880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0350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Alpha &amp; beta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44768" y="1874520"/>
            <a:ext cx="24323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Realised alpha, beta and R² of each holding and of the portfolio vs a chosen benchmark.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5760" y="2834640"/>
            <a:ext cx="8412480" cy="150876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8803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 get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209544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48640" y="3209544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143000" y="320954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0B981"/>
                </a:solidFill>
              </a:rPr>
              <a:t>Expected vs realised: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83280" y="320954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Return, volatility and the loss-threshold outcome, for P1 (no derivative) and P2 (with).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354787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35478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43000" y="35478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</a:rPr>
              <a:t>Alpha / beta table: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83280" y="3547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Per-security and portfolio beta (the regression slope) and annualised Jensen alpha, with R².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48640" y="3886200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3886200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8862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76F51"/>
                </a:solidFill>
              </a:rPr>
              <a:t>Optional CAPM: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383280" y="38862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0C8D8"/>
                </a:solidFill>
              </a:rPr>
              <a:t>Enter an expected market return E[Rm] to add a CAPM required return and an ex-ante alpha.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16 / 19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32" name="Picture 31" descr="window_4a9eff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340" y="1097280"/>
            <a:ext cx="228600" cy="228600"/>
          </a:xfrm>
          <a:prstGeom prst="rect">
            <a:avLst/>
          </a:prstGeom>
        </p:spPr>
      </p:pic>
      <p:pic>
        <p:nvPicPr>
          <p:cNvPr id="33" name="Picture 32" descr="repeat_4a9eff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097280"/>
            <a:ext cx="228600" cy="228600"/>
          </a:xfrm>
          <a:prstGeom prst="rect">
            <a:avLst/>
          </a:prstGeom>
        </p:spPr>
      </p:pic>
      <p:pic>
        <p:nvPicPr>
          <p:cNvPr id="34" name="Picture 33" descr="trending_4a9eff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6620" y="1097280"/>
            <a:ext cx="228600" cy="228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Reading the Backtest output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17 / 19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sp>
        <p:nvSpPr>
          <p:cNvPr id="40" name="Cmt box"/>
          <p:cNvSpPr/>
          <p:nvPr/>
        </p:nvSpPr>
        <p:spPr>
          <a:xfrm>
            <a:off x="5669280" y="1095744"/>
            <a:ext cx="3154240" cy="252665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41" name="Cmt text"/>
          <p:cNvSpPr/>
          <p:nvPr/>
        </p:nvSpPr>
        <p:spPr>
          <a:xfrm>
            <a:off x="5852160" y="1188720"/>
            <a:ext cx="2788480" cy="2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A9EFF"/>
                </a:solidFill>
              </a:rPr>
              <a:t>What you’re seeing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Out-of-sample value of two optimiser portfolios, rebased to 100 at entry and marked to market.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Green = Portfolio (1), no derivative; orange = Portfolio (2), with the chosen derivative (a put).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The derivative line cushions drawdowns and ends higher — the realised hedging benefit on unseen data.</a:t>
            </a:r>
          </a:p>
          <a:p>
            <a:pPr indent="0" marL="0">
              <a:spcBef>
                <a:spcPts val="900"/>
              </a:spcBef>
              <a:buNone/>
            </a:pPr>
            <a:r>
              <a:rPr lang="en-US" sz="900" dirty="0">
                <a:solidFill>
                  <a:srgbClr val="C0C8D8"/>
                </a:solidFill>
              </a:rPr>
              <a:t>•  Realised alpha &amp; beta vs a benchmark are computed from these paths (table beneath the chart in the app).</a:t>
            </a:r>
          </a:p>
        </p:txBody>
      </p:sp>
      <p:pic>
        <p:nvPicPr>
          <p:cNvPr id="42" name="Picture 41" descr="backtest_out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48822"/>
            <a:ext cx="5120640" cy="202049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About &amp; Glossary Tabs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822960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About Tab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Author background &amp; contact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4864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App description &amp; algorithm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Academic references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Legal disclaimer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749808"/>
            <a:ext cx="4023360" cy="347472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193792" y="822960"/>
            <a:ext cx="34015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A9EFF"/>
                </a:solidFill>
              </a:rPr>
              <a:t>Glossary Tab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37760" y="288036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Click any term for AI explanation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937760" y="31821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Covers derivatives, risk, portfolio theory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48386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Ask your own questions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937760" y="3785616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Tailored to behavioural portfolio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18 / 19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  <p:pic>
        <p:nvPicPr>
          <p:cNvPr id="24" name="Picture 23" descr="ab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4945" y="1402439"/>
            <a:ext cx="3204989" cy="1218482"/>
          </a:xfrm>
          <a:prstGeom prst="rect">
            <a:avLst/>
          </a:prstGeom>
        </p:spPr>
      </p:pic>
      <p:pic>
        <p:nvPicPr>
          <p:cNvPr id="25" name="Picture 24" descr="glossar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1315" y="1247534"/>
            <a:ext cx="3570489" cy="1528292"/>
          </a:xfrm>
          <a:prstGeom prst="rect">
            <a:avLst/>
          </a:prstGeom>
        </p:spPr>
      </p:pic>
      <p:pic>
        <p:nvPicPr>
          <p:cNvPr id="26" name="Picture 25" descr="info_4a9eff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850392"/>
            <a:ext cx="182880" cy="182880"/>
          </a:xfrm>
          <a:prstGeom prst="rect">
            <a:avLst/>
          </a:prstGeom>
        </p:spPr>
      </p:pic>
      <p:pic>
        <p:nvPicPr>
          <p:cNvPr id="27" name="Picture 26" descr="book_4a9eff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37760" y="850392"/>
            <a:ext cx="182880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20C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6BBF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Disclaimer &amp; Contact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8412480" cy="1920240"/>
          </a:xfrm>
          <a:prstGeom prst="rect">
            <a:avLst/>
          </a:prstGeom>
          <a:solidFill>
            <a:srgbClr val="1A1200"/>
          </a:solidFill>
          <a:ln w="1905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412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⚠️  Legal Disclaimer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0C8D8"/>
                </a:solidFill>
              </a:rPr>
              <a:t>This application is based on the mental accounts portfolio optimisation framework of Das &amp; Statman (2009) and Das, Markowitz, Scheid &amp; Statman (2010), as extended in Jeddou (2012). It is provided for educational and research purposes only and does not constitute financial advice, investment recommendations, or a solicitation to buy or sell any financial instrument. Results are purely illustrative and should not be used as the basis for any investment decision.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2834640"/>
            <a:ext cx="8412480" cy="1234440"/>
          </a:xfrm>
          <a:prstGeom prst="rect">
            <a:avLst/>
          </a:prstGeom>
          <a:solidFill>
            <a:srgbClr val="0D1A2E"/>
          </a:solidFill>
          <a:ln w="12700">
            <a:solidFill>
              <a:srgbClr val="1A6BB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28895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A9EFF"/>
                </a:solidFill>
              </a:rPr>
              <a:t>Academic References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320040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 &amp; Statman, M. (2009) — Beyond Mean-Variance: Portfolios with Derivatives and Non-Normal Returns in Mental Accounts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347472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Das, S., Markowitz, H., Scheid, J. &amp; Statman, M. (2010) — Portfolio Optimization with Mental Accounts, JFQA Vol.45 No.2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48640" y="374904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9EFF"/>
                </a:solidFill>
              </a:rPr>
              <a:t xml:space="preserve">▸  </a:t>
            </a:r>
            <a:pPr indent="0" marL="0">
              <a:buNone/>
            </a:pPr>
            <a:r>
              <a:rPr lang="en-US" sz="850" dirty="0">
                <a:solidFill>
                  <a:srgbClr val="C0C8D8"/>
                </a:solidFill>
              </a:rPr>
              <a:t>Jeddou, S. (2012) — Beyond Mean-Variance: Options and Structured Products in Behavioral Portfolios, MSc Finance, USI Lugano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65760" y="452628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</a:rPr>
              <a:t xml:space="preserve">🔗  </a:t>
            </a:r>
            <a:pPr algn="ctr" indent="0" marL="0">
              <a:buNone/>
            </a:pPr>
            <a:r>
              <a:rPr lang="en-US" sz="950" dirty="0">
                <a:solidFill>
                  <a:srgbClr val="4A9EFF"/>
                </a:solidFill>
                <a:hlinkClick r:id="rId4"/>
              </a:rPr>
              <a:t>sami-jeddou-behavioral-portfolio-optimizer.streamlit.app</a:t>
            </a:r>
            <a:pPr algn="ctr" indent="0" marL="0">
              <a:buNone/>
            </a:pPr>
            <a:r>
              <a:rPr lang="en-US" sz="950" dirty="0">
                <a:solidFill>
                  <a:srgbClr val="556A8A"/>
                </a:solidFill>
                <a:hlinkClick r:id="rId3"/>
              </a:rPr>
              <a:t xml:space="preserve">   |   🔗  LinkedIn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19 / 19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56A8A"/>
                </a:solidFill>
              </a:rPr>
              <a:t>Beyond Mean-Variance Portfolio Optimiser — User Guide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Mean-Variance Portfolio Optimiser — User Guide</dc:title>
  <dc:subject>PptxGenJS Presentation</dc:subject>
  <dc:creator>Sami Jeddou</dc:creator>
  <cp:lastModifiedBy>Sami Jeddou</cp:lastModifiedBy>
  <cp:revision>1</cp:revision>
  <dcterms:created xsi:type="dcterms:W3CDTF">2026-06-04T12:14:13Z</dcterms:created>
  <dcterms:modified xsi:type="dcterms:W3CDTF">2026-06-04T12:14:13Z</dcterms:modified>
</cp:coreProperties>
</file>