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20"/>
    <p:sldId id="271" r:id="rId22"/>
    <p:sldId id="270" r:id="rId21"/>
    <p:sldId id="272" r:id="rId23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12.xml"/><Relationship Id="rId21" Type="http://schemas.openxmlformats.org/officeDocument/2006/relationships/slide" Target="slides/slide14.xml"/><Relationship Id="rId22" Type="http://schemas.openxmlformats.org/officeDocument/2006/relationships/slide" Target="slides/slide13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linkedin.com/in/sami-jeddou-25787a4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solidFill>
            <a:srgbClr val="0D1A2E"/>
          </a:solidFill>
          <a:ln w="1905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4A9EFF"/>
                </a:solidFill>
              </a:rPr>
              <a:t>User 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Beyond Mean-Variance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Portfolio Optimiser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C8D8"/>
                </a:solidFill>
              </a:rPr>
              <a:t>With Derivatives &amp; Structured Products — A Mental Accounts Framework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685800"/>
          </a:xfrm>
          <a:prstGeom prst="rect">
            <a:avLst/>
          </a:prstGeom>
          <a:solidFill>
            <a:srgbClr val="1A6BBF">
              <a:alpha val="20000"/>
            </a:srgbClr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86000" y="3749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Sami Jeddou</a:t>
            </a:r>
            <a:pPr algn="ctr" indent="0" marL="0">
              <a:buNone/>
            </a:pPr>
            <a:r>
              <a:rPr lang="en-US" sz="1100" dirty="0">
                <a:solidFill>
                  <a:srgbClr val="C0C8D8"/>
                </a:solidFill>
              </a:rPr>
              <a:t xml:space="preserve">   |   Senior Financial Services Executive   |  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</a:rPr>
              <a:t>🔗  sami-jeddou-behavioral-portfolio-optimizer.streamlit.app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Home — choose a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Grid Portfolio Optimiser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Exact grid engine on the Das–Statman states — VaR, thesis-ES and rigorous-ES, with derivatives.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Scalable Portfolio Optimiser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Monte-Carlo scenarios + α-CVaR linear program — scales to large, multi-derivative portfolios.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Backtest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Out-of-sample walk-forward — expected vs realised, plus realised alpha &amp; beta.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Reference &amp; navigation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2095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209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About: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209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Methods, the mental-accounting framework and the research behind the app.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5478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Glossary: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547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Plain-language, AI-powered definitions — VaR, ES, α-CVaR, copulas, alpha &amp; beta.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886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Tip: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Each tile opens a tool; the Grid Portfolio Optimiser is the place to start.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2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Grid Portfolio Optimiser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Interactive Frontiers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MV vs Behavioural vs Derivative frontier — visualised side by side on a single chart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Three Portfolios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No derivative / With derivative / Same risk — three perspectives for each optimisation run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On-demand explanations for every parameter, constraint, derivative type, and result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5800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Portfolio perspectives (0–3)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100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564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510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Portfolio (1) — No derivative: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510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Equivalent to MV optimum — confirms MVT/MAT equivalence. Most classical optimisers stop here.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8100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864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810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Portfolio (2) — With derivative: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810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Same implied λ and downside constraint (H,α or H,α,L) — shows return uplift from derivatives.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1100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4164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4110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Portfolio (3) — Same risk as (1):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4110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Interpolated at P(1) std dev — direct comparison of return gain at equivalent risk (indicative).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3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sp>
        <p:nvSpPr>
          <p:cNvPr id="50" name="P0 badge"/>
          <p:cNvSpPr/>
          <p:nvPr/>
        </p:nvSpPr>
        <p:spPr>
          <a:xfrm>
            <a:off x="548640" y="32100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51" name="P0 num"/>
          <p:cNvSpPr/>
          <p:nvPr/>
        </p:nvSpPr>
        <p:spPr>
          <a:xfrm>
            <a:off x="548640" y="3264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2" name="P0 label"/>
          <p:cNvSpPr/>
          <p:nvPr/>
        </p:nvSpPr>
        <p:spPr>
          <a:xfrm>
            <a:off x="1143000" y="3210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Portfolio (0) — Markowitz MV optimum:</a:t>
            </a:r>
            <a:endParaRPr lang="en-US" sz="950" dirty="0"/>
          </a:p>
        </p:txBody>
      </p:sp>
      <p:sp>
        <p:nvSpPr>
          <p:cNvPr id="53" name="P0 desc"/>
          <p:cNvSpPr/>
          <p:nvPr/>
        </p:nvSpPr>
        <p:spPr>
          <a:xfrm>
            <a:off x="3383280" y="3210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Classical mean-variance solution; Portfolio (1) coincides with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 — Portfolio Data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804672"/>
            <a:ext cx="4572000" cy="74980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859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Default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1338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Das &amp; Statman (2009) base case — 3 securities, pre-calibrated. Reproduces thesis results.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673352"/>
            <a:ext cx="4572000" cy="74980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34840" y="17282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Live market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0025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Any global ticker from Yahoo Finance — equities, ETFs, indices, crypto (BTC, ETH...)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542032"/>
            <a:ext cx="4572000" cy="74980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34840" y="25968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Enter manually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871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Enter means, std devs, and correlation matrix directly. Supports 2–10 securities.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3410712"/>
            <a:ext cx="4572000" cy="74980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4840" y="3465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Upload 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3739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First col = dates, remaining cols = asset prices. Returns computed automatically.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4 / 17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2" name="Picture 21" descr="slide3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954" y="749808"/>
            <a:ext cx="223321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 — Derivative / Structured Product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51960" y="749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Available instruments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1960" y="1097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Vanilla options — put, call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51960" y="1435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Collars — safety, aggressive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51960" y="17739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Volatility — straddle, strangle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51960" y="2112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Spreads — bull call, bear 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51960" y="2450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Butterfly &amp; condor — long butterfly, call condor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51960" y="2788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Capital-guaranteed note — capped or uncapped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51960" y="31272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Barrier-M note &amp; reverse convertible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51960" y="34655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 xml:space="preserve">▸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Discount &amp; outperformance certificates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3886200"/>
            <a:ext cx="4572000" cy="502920"/>
          </a:xfrm>
          <a:prstGeom prst="rect">
            <a:avLst/>
          </a:prstGeom>
          <a:solidFill>
            <a:srgbClr val="1A3A2E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3886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💡  Select 'None' for no derivatives, or 'Custom' to build your own (calls, puts, digitals, ZCBs).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5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1" name="Picture 20" descr="slide4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4326"/>
            <a:ext cx="2175497" cy="3148563"/>
          </a:xfrm>
          <a:prstGeom prst="rect">
            <a:avLst/>
          </a:prstGeom>
        </p:spPr>
      </p:pic>
      <p:pic>
        <p:nvPicPr>
          <p:cNvPr id="22" name="Picture 21" descr="slide4step2b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417" y="1004326"/>
            <a:ext cx="1344942" cy="3148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 — Mental-Account Constraint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749808"/>
            <a:ext cx="4572000" cy="9200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79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VaR — Value at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061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P(return &lt; H) ≤ 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31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Caps the probability of finishing below H at α.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729808"/>
            <a:ext cx="4572000" cy="9200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177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ES — Expected Shortfall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041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E[return | return &lt; H] ≥ 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29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Floors the average tail loss below H at L (thesis).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3689808"/>
            <a:ext cx="4572000" cy="658368"/>
          </a:xfrm>
          <a:prstGeom prst="rect">
            <a:avLst/>
          </a:prstGeom>
          <a:solidFill>
            <a:srgbClr val="1A1A3E"/>
          </a:solidFill>
          <a:ln w="12700">
            <a:solidFill>
              <a:srgbClr val="4A9E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43400" y="368980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💡  Implied λ is computed dynamically — adjust H and α to see the equivalent risk-aversion coefficient update in real time, confirming MVT/MAT equivalence.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6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0" name="Picture 19" descr="Slide5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30" y="749808"/>
            <a:ext cx="1895459" cy="3816418"/>
          </a:xfrm>
          <a:prstGeom prst="rect">
            <a:avLst/>
          </a:prstGeom>
        </p:spPr>
      </p:pic>
      <p:sp>
        <p:nvSpPr>
          <p:cNvPr id="60" name="Rig box"/>
          <p:cNvSpPr/>
          <p:nvPr/>
        </p:nvSpPr>
        <p:spPr>
          <a:xfrm>
            <a:off x="4251960" y="2709808"/>
            <a:ext cx="4572000" cy="9200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61" name="Rig hdr"/>
          <p:cNvSpPr/>
          <p:nvPr/>
        </p:nvSpPr>
        <p:spPr>
          <a:xfrm>
            <a:off x="4434840" y="275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ES — Rigorous (beyond thesis)</a:t>
            </a:r>
            <a:endParaRPr lang="en-US" sz="1100" dirty="0"/>
          </a:p>
        </p:txBody>
      </p:sp>
      <p:sp>
        <p:nvSpPr>
          <p:cNvPr id="62" name="Rig formula"/>
          <p:cNvSpPr/>
          <p:nvPr/>
        </p:nvSpPr>
        <p:spPr>
          <a:xfrm>
            <a:off x="4434840" y="3021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E[r | r &lt; H] ≥ L  (enforced in the solve)</a:t>
            </a:r>
            <a:endParaRPr lang="en-US" sz="1100" dirty="0"/>
          </a:p>
        </p:txBody>
      </p:sp>
      <p:sp>
        <p:nvSpPr>
          <p:cNvPr id="63" name="Rig desc"/>
          <p:cNvSpPr/>
          <p:nvPr/>
        </p:nvSpPr>
        <p:spPr>
          <a:xfrm>
            <a:off x="4434840" y="327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Enforces the ES floor in the optimisation itself.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 — Grid Resolution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804672"/>
            <a:ext cx="4572000" cy="1051560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877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⚡  Fast  (m=21, m'=15)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1188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A8A"/>
                </a:solidFill>
              </a:rPr>
              <a:t>⏱ ~1–2 min (or more depending on the portfolio size)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34840" y="14264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Quick preview and parameter exploration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975104"/>
            <a:ext cx="4572000" cy="1051560"/>
          </a:xfrm>
          <a:prstGeom prst="rect">
            <a:avLst/>
          </a:prstGeom>
          <a:solidFill>
            <a:srgbClr val="0D1A2E"/>
          </a:solidFill>
          <a:ln w="15240">
            <a:solidFill>
              <a:srgbClr val="4A9E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2048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FF"/>
                </a:solidFill>
              </a:rPr>
              <a:t>⚖️  Standard  (m=35, m'=50)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3591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A8A"/>
                </a:solidFill>
              </a:rPr>
              <a:t>⏱ ~5–15 min (or more depending on the portfolio size)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25968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Good balance — close to thesis results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3145536"/>
            <a:ext cx="4572000" cy="105156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3484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🎯  High precision  (m=51, m'=99)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35295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A8A"/>
                </a:solidFill>
              </a:rPr>
              <a:t>⏱ 1–2 hrs (or more depending on the portfolio size)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Publication-quality replication of thesis results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7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4" name="Picture 23" descr="slide6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15" y="749808"/>
            <a:ext cx="2015289" cy="2286000"/>
          </a:xfrm>
          <a:prstGeom prst="rect">
            <a:avLst/>
          </a:prstGeom>
        </p:spPr>
      </p:pic>
      <p:sp>
        <p:nvSpPr>
          <p:cNvPr id="40" name="Also box"/>
          <p:cNvSpPr/>
          <p:nvPr/>
        </p:nvSpPr>
        <p:spPr>
          <a:xfrm>
            <a:off x="457200" y="3210000"/>
            <a:ext cx="3520000" cy="12400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1" name="Also hdr"/>
          <p:cNvSpPr/>
          <p:nvPr/>
        </p:nvSpPr>
        <p:spPr>
          <a:xfrm>
            <a:off x="640080" y="3290000"/>
            <a:ext cx="315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Also available</a:t>
            </a:r>
            <a:endParaRPr lang="en-US" sz="1100" dirty="0"/>
          </a:p>
        </p:txBody>
      </p:sp>
      <p:sp>
        <p:nvSpPr>
          <p:cNvPr id="42" name="Also turbo"/>
          <p:cNvSpPr/>
          <p:nvPr/>
        </p:nvSpPr>
        <p:spPr>
          <a:xfrm>
            <a:off x="640080" y="3610000"/>
            <a:ext cx="3154240" cy="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B342"/>
                </a:solidFill>
              </a:rPr>
              <a:t xml:space="preserve">🚀 Turbo — 4th resolution: </a:t>
            </a:r>
            <a:r>
              <a:rPr lang="en-US" sz="950" dirty="0">
                <a:solidFill>
                  <a:srgbClr val="C0C8D8"/>
                </a:solidFill>
              </a:rPr>
              <a:t>High-precision VaR accuracy in ~seconds (VaR-only, ≤4 assets, no derivative).</a:t>
            </a:r>
            <a:endParaRPr lang="en-US" sz="950" dirty="0"/>
          </a:p>
        </p:txBody>
      </p:sp>
      <p:sp>
        <p:nvSpPr>
          <p:cNvPr id="43" name="Also rig"/>
          <p:cNvSpPr/>
          <p:nvPr/>
        </p:nvSpPr>
        <p:spPr>
          <a:xfrm>
            <a:off x="640080" y="4110000"/>
            <a:ext cx="31542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 xml:space="preserve">Rigorous ES: </a:t>
            </a:r>
            <a:r>
              <a:rPr lang="en-US" sz="950" dirty="0">
                <a:solidFill>
                  <a:srgbClr val="C0C8D8"/>
                </a:solidFill>
              </a:rPr>
              <a:t>a fixed high-precision grid (m=51); chosen in the Risk-measure step.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 — Run the Optimiser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8412480" cy="14813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Computation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 xml:space="preserve">1.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Mean-variance frontier — Markowitz sweep (instant)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 xml:space="preserve">2.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Behavioural frontier (no derivative) — State space, Gaussian copula, grid search, COBYLA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 xml:space="preserve">3.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Derivative frontier — Same steps extended with derivative payoff (only if derivative selected)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0965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</a:rPr>
              <a:t xml:space="preserve">4.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Chart rendering + Results computation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8 /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16" name="Picture 15" descr="Slide7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64" y="749808"/>
            <a:ext cx="7851871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the Chart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Chart legend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1115568"/>
            <a:ext cx="164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97880" y="1115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Purple dashed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97880" y="1298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Mean-variance efficient frontier (Markowitz)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164592" cy="20116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97880" y="1463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Blue dots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Behavioural efficient frontier — no derivative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1810512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97880" y="1810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Gold squares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993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Behavioural optimum — derivative frontier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2157984"/>
            <a:ext cx="164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97880" y="2157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 diamond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23408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Portfolio (1) — no derivative optimum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2505456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97880" y="2505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Orange square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26883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Portfolio (2) — with derivative, same λ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0" y="2852928"/>
            <a:ext cx="164592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9788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Coral star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30358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Portfolio (3) — same variance as P(1)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40782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X-axis: Portfolio Risk (Standard Deviation %)   |   Y-axis: Expected Return (%)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9 /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9" name="Picture 28" descr="Slide8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5744"/>
            <a:ext cx="5120640" cy="2520165"/>
          </a:xfrm>
          <a:prstGeom prst="rect">
            <a:avLst/>
          </a:prstGeom>
        </p:spPr>
      </p:pic>
      <p:sp>
        <p:nvSpPr>
          <p:cNvPr id="30" name="Swatch P0"/>
          <p:cNvSpPr/>
          <p:nvPr/>
        </p:nvSpPr>
        <p:spPr>
          <a:xfrm>
            <a:off x="5669280" y="3200400"/>
            <a:ext cx="164592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31" name="Text P0"/>
          <p:cNvSpPr/>
          <p:nvPr/>
        </p:nvSpPr>
        <p:spPr>
          <a:xfrm>
            <a:off x="5897880" y="3200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Magenta circle</a:t>
            </a:r>
            <a:endParaRPr lang="en-US" sz="900" dirty="0"/>
          </a:p>
        </p:txBody>
      </p:sp>
      <p:sp>
        <p:nvSpPr>
          <p:cNvPr id="32" name="Desc P0"/>
          <p:cNvSpPr/>
          <p:nvPr/>
        </p:nvSpPr>
        <p:spPr>
          <a:xfrm>
            <a:off x="589788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A8A"/>
                </a:solidFill>
              </a:rPr>
              <a:t>Portfolio (0) — Markowitz MV optimum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Portfolio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Key 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Expected return: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Annualised mean return of the optimal portfolio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Std deviation: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Annualised portfolio volatility (risk measure)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Skewness: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Asymmetry of return distribution — positive = upside skew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Shortfall / ES: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Expected loss in the tail (ES constraint value)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Portfolio weights:  </a:t>
            </a:r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Allocation to each security and derivative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10 / 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14" name="Picture 13" descr="slide9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669" y="749808"/>
            <a:ext cx="203266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PDF Export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PDF report includes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✓  </a:t>
            </a:r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Cover page with run 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4996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✓  </a:t>
            </a:r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Full efficient frontier chart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18836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✓  </a:t>
            </a:r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Portfolio (1), (2), (3) metrics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✓  </a:t>
            </a:r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Weight allocation bar charts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651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✓  </a:t>
            </a:r>
            <a:pPr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Legal disclaimer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0D1A2E"/>
          </a:solidFill>
          <a:ln w="1016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40782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💡  The PDF is generated in-browser — no data is sent externally. Click 'Download PDF report' after the simulation completes.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11 /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16" name="Picture 15" descr="Slide10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49164"/>
            <a:ext cx="5120640" cy="801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Scalable Portfolio Optimiser — Monte-Carlo + CVaR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Scenario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Samples thousands of joint return scenarios through a Gaussian or Student-t copula.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α-CVaR linear program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Maximises return subject to a CVaR (Expected-Shortfall) floor — Rockafellar–Uryasev.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Institutional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Cost grows linearly in the number of assets — dozens of holdings, several derivatives at once.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How to use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2095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209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Pick assets &amp; scenarios: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209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Enter tickers and derivatives, choose the copula and the number of Monte-Carlo scenarios.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5478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Set the ES floor: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547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Choose the loss level L; the engine sweeps the return / tail-risk frontier.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886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Read the optimum: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★ marks the chosen portfolio; weights, E[r], realised ES, vol and skew are reported.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12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the Scalable output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13 /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9" name="Picture 28" descr="Slide8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5744"/>
            <a:ext cx="5120640" cy="2526650"/>
          </a:xfrm>
          <a:prstGeom prst="rect">
            <a:avLst/>
          </a:prstGeom>
        </p:spPr>
      </p:pic>
      <p:sp>
        <p:nvSpPr>
          <p:cNvPr id="40" name="Cmt box"/>
          <p:cNvSpPr/>
          <p:nvPr/>
        </p:nvSpPr>
        <p:spPr>
          <a:xfrm>
            <a:off x="5669280" y="1095744"/>
            <a:ext cx="3154240" cy="252665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1" name="Cmt text"/>
          <p:cNvSpPr/>
          <p:nvPr/>
        </p:nvSpPr>
        <p:spPr>
          <a:xfrm>
            <a:off x="5852160" y="1188720"/>
            <a:ext cx="2788480" cy="2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What you’re seeing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Curve = the return / tail-risk frontier: the most expected return reachable for each Expected-Shortfall floor L.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A tighter floor (toward −10%) allows less tail loss and lowers return; a looser one (toward −30%) raises it.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The ★ is the optimum at your chosen floor (here L = −20%, E[r] = 24.6%).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Built from Monte-Carlo scenarios solved by a CVaR linear program, so it scales to many assets.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Out-of-sample back-test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Two windows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Build weights on a construction window, then buy-and-hold them through a later evaluation window.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Marked to market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The derivative is repriced each step with Black-Scholes, giving a full realised return path.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Alpha &amp; beta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Realised alpha, beta and R² of each holding and of the portfolio vs a chosen benchmark.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50876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What you 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2095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209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Expected vs realised: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209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Return, volatility and the loss-threshold outcome, for P1 (no derivative) and P2 (with).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5478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Alpha / beta table: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547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Per-security and portfolio beta (the regression slope) and annualised Jensen alpha, with R².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886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</a:rPr>
              <a:t>Optional CAPM: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Enter an expected market return E[Rm] to add a CAPM required return and an ex-ante alpha.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14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the Backtest output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15 /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9" name="Picture 28" descr="Slide8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5744"/>
            <a:ext cx="5120640" cy="2526650"/>
          </a:xfrm>
          <a:prstGeom prst="rect">
            <a:avLst/>
          </a:prstGeom>
        </p:spPr>
      </p:pic>
      <p:sp>
        <p:nvSpPr>
          <p:cNvPr id="40" name="Cmt box"/>
          <p:cNvSpPr/>
          <p:nvPr/>
        </p:nvSpPr>
        <p:spPr>
          <a:xfrm>
            <a:off x="5669280" y="1095744"/>
            <a:ext cx="3154240" cy="252665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41" name="Cmt text"/>
          <p:cNvSpPr/>
          <p:nvPr/>
        </p:nvSpPr>
        <p:spPr>
          <a:xfrm>
            <a:off x="5852160" y="1188720"/>
            <a:ext cx="2788480" cy="2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What you’re seeing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Out-of-sample value of two optimiser portfolios, rebased to 100 at entry and marked to market.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Green = Portfolio (1), no derivative; orange = Portfolio (2), with the chosen derivative (a put).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The derivative line cushions drawdowns and ends higher — the realised hedging benefit on unseen data.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en-US" sz="900" dirty="0">
                <a:solidFill>
                  <a:srgbClr val="C0C8D8"/>
                </a:solidFill>
              </a:rPr>
              <a:t>•  Realised alpha &amp; beta vs a benchmark are computed from these paths (table beneath the chart in the app).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About &amp; Glossary Tabs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023360" cy="34747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</a:rPr>
              <a:t>📖  About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Author background &amp; contact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App description &amp; algorithm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Academic references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785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Legal disclaimer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023360" cy="34747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</a:rPr>
              <a:t>📚  Glossary Tab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Click any term for AI explanation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Covers derivatives, risk, portfolio theory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3483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Ask your own questions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3785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Tailored to behavioural portfolio context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16 / 17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  <p:pic>
        <p:nvPicPr>
          <p:cNvPr id="22" name="Picture 21" descr="slide11ab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5" y="1188720"/>
            <a:ext cx="3204989" cy="1645920"/>
          </a:xfrm>
          <a:prstGeom prst="rect">
            <a:avLst/>
          </a:prstGeom>
        </p:spPr>
      </p:pic>
      <p:pic>
        <p:nvPicPr>
          <p:cNvPr id="23" name="Picture 22" descr="Slide11Gloss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315" y="1188720"/>
            <a:ext cx="3570489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Disclaimer &amp; Contact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⚠️  Legal Disclaimer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This application is based on the mental accounts portfolio optimisation framework of Das &amp; Statman (2009) and Das, Markowitz, Scheid &amp; Statman (2010), as extended in Jeddou (2012). It is provided for educational and research purposes only and does not constitute financial advice, investment recommendations, or a solicitation to buy or sell any financial instrument. Results are purely illustrative and should not be used as the basis for any investment decision.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412480" cy="12344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6BB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889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Academic References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Das, S. &amp; Statman, M. (2009) — Beyond Mean-Variance: Portfolios with Derivatives and Non-Normal Returns in Mental Accounts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Das, S., Markowitz, H., Scheid, J. &amp; Statman, M. (2010) — Portfolio Optimization with Mental Accounts, JFQA Vol.45 No.2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EFF"/>
                </a:solidFill>
              </a:rPr>
              <a:t xml:space="preserve">▸  </a:t>
            </a:r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Jeddou, S. (2012) — Beyond Mean-Variance: Options and Structured Products in Behavioral Portfolios, MSc Finance, USI Lugano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 xml:space="preserve">🔗  </a:t>
            </a:r>
            <a:pPr algn="ctr" indent="0" marL="0">
              <a:buNone/>
            </a:pPr>
            <a:r>
              <a:rPr lang="en-US" sz="950" dirty="0">
                <a:solidFill>
                  <a:srgbClr val="4A9EFF"/>
                </a:solidFill>
              </a:rPr>
              <a:t>sami-jeddou-behavioral-portfolio-optimizer.streamlit.app</a:t>
            </a:r>
            <a:pPr algn="ctr" indent="0" marL="0">
              <a:buNone/>
            </a:pPr>
            <a:r>
              <a:rPr lang="en-US" sz="950" dirty="0">
                <a:solidFill>
                  <a:srgbClr val="556A8A"/>
                </a:solidFill>
                <a:hlinkClick r:id="rId3"/>
              </a:rPr>
              <a:t xml:space="preserve">   |   🔗  LinkedIn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17 / 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A8A"/>
                </a:solidFill>
              </a:rPr>
              <a:t>Beyond Mean-Variance Portfolio Optimiser — User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Mean-Variance Portfolio Optimiser — User Guide</dc:title>
  <dc:subject>PptxGenJS Presentation</dc:subject>
  <dc:creator>Sami Jeddou</dc:creator>
  <cp:lastModifiedBy>Sami Jeddou</cp:lastModifiedBy>
  <cp:revision>1</cp:revision>
  <dcterms:created xsi:type="dcterms:W3CDTF">2026-06-04T12:14:13Z</dcterms:created>
  <dcterms:modified xsi:type="dcterms:W3CDTF">2026-06-04T12:14:13Z</dcterms:modified>
</cp:coreProperties>
</file>